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6" r:id="rId11"/>
    <p:sldId id="344" r:id="rId12"/>
    <p:sldId id="340" r:id="rId13"/>
    <p:sldId id="345"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4838435" cy="992555"/>
          </a:xfrm>
        </p:spPr>
        <p:txBody>
          <a:bodyPr vert="horz" lIns="91440" tIns="45720" rIns="91440" bIns="45720" rtlCol="0" anchor="t">
            <a:normAutofit/>
          </a:bodyPr>
          <a:lstStyle/>
          <a:p>
            <a:r>
              <a:rPr lang="en-US" dirty="0">
                <a:solidFill>
                  <a:schemeClr val="tx1"/>
                </a:solidFill>
              </a:rPr>
              <a:t>Student Name</a:t>
            </a:r>
            <a:r>
              <a:rPr lang="en-US" b="0" dirty="0">
                <a:solidFill>
                  <a:schemeClr val="tx1"/>
                </a:solidFill>
              </a:rPr>
              <a:t>: Kalyani </a:t>
            </a:r>
            <a:r>
              <a:rPr lang="en-US" b="0" dirty="0" err="1">
                <a:solidFill>
                  <a:schemeClr val="tx1"/>
                </a:solidFill>
              </a:rPr>
              <a:t>Sanapathi</a:t>
            </a:r>
            <a:endParaRPr lang="en-IN" b="0" dirty="0">
              <a:solidFill>
                <a:schemeClr val="tx1"/>
              </a:solidFill>
            </a:endParaRPr>
          </a:p>
          <a:p>
            <a:r>
              <a:rPr lang="en-US" dirty="0">
                <a:solidFill>
                  <a:schemeClr val="tx1"/>
                </a:solidFill>
              </a:rPr>
              <a:t>College Name: </a:t>
            </a:r>
            <a:r>
              <a:rPr lang="en-US" b="0" dirty="0">
                <a:solidFill>
                  <a:schemeClr val="tx1"/>
                </a:solidFill>
              </a:rPr>
              <a:t>Aditya Degree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41293"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76469"/>
            <a:ext cx="5648667" cy="369332"/>
          </a:xfrm>
          <a:prstGeom prst="rect">
            <a:avLst/>
          </a:prstGeom>
          <a:noFill/>
        </p:spPr>
        <p:txBody>
          <a:bodyPr wrap="square" rtlCol="0">
            <a:spAutoFit/>
          </a:bodyPr>
          <a:lstStyle/>
          <a:p>
            <a:r>
              <a:rPr lang="en-US" b="1" dirty="0"/>
              <a:t>AICTE STU ID : </a:t>
            </a:r>
            <a:r>
              <a:rPr lang="en-IN" b="1" dirty="0"/>
              <a:t>STU69fb26bfc5b301778067135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ext Placeholder 1">
            <a:extLst>
              <a:ext uri="{FF2B5EF4-FFF2-40B4-BE49-F238E27FC236}">
                <a16:creationId xmlns:a16="http://schemas.microsoft.com/office/drawing/2014/main" id="{FE8CA9DC-47FB-63FB-BB67-135F05A56383}"/>
              </a:ext>
            </a:extLst>
          </p:cNvPr>
          <p:cNvSpPr>
            <a:spLocks noGrp="1"/>
          </p:cNvSpPr>
          <p:nvPr>
            <p:ph type="body" sz="quarter" idx="12"/>
          </p:nvPr>
        </p:nvSpPr>
        <p:spPr>
          <a:xfrm>
            <a:off x="721359" y="1991360"/>
            <a:ext cx="7904481" cy="3990023"/>
          </a:xfrm>
        </p:spPr>
        <p:txBody>
          <a:bodyPr>
            <a:noAutofit/>
          </a:bodyPr>
          <a:lstStyle/>
          <a:p>
            <a:pPr marL="0" indent="0" algn="just">
              <a:lnSpc>
                <a:spcPct val="100000"/>
              </a:lnSpc>
              <a:buNone/>
            </a:pPr>
            <a:r>
              <a:rPr lang="en-IN" sz="2200" b="1" dirty="0"/>
              <a:t>Seasonal Agriculture Performance Analysis</a:t>
            </a:r>
            <a:r>
              <a:rPr lang="en-IN" sz="2200" dirty="0"/>
              <a:t> is a Data Analytics project that </a:t>
            </a:r>
            <a:r>
              <a:rPr lang="en-IN" sz="2200" dirty="0" err="1"/>
              <a:t>analyzes</a:t>
            </a:r>
            <a:r>
              <a:rPr lang="en-IN" sz="2200" dirty="0"/>
              <a:t> agricultural data across Kharif, Rabi, and Zaid seasons to identify patterns and factors affecting crop yield, production, water efficiency, and profitability. The project applies data cleaning, exploratory data analysis, statistical techniques, correlation analysis, and visualization to study the influence of environmental conditions, agricultural inputs, irrigation methods, disease and pest risk, and economic factors on agricultural performance. The project concludes with evidence-based insights and recommendations for efficient resource utilization, improved profitability, and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60" y="1991360"/>
            <a:ext cx="9019800" cy="3990023"/>
          </a:xfrm>
        </p:spPr>
        <p:txBody>
          <a:bodyPr>
            <a:noAutofit/>
          </a:bodyPr>
          <a:lstStyle/>
          <a:p>
            <a:r>
              <a:rPr lang="en-IN" sz="1500" b="1" dirty="0"/>
              <a:t>Farmers</a:t>
            </a:r>
            <a:br>
              <a:rPr lang="en-IN" sz="1500" dirty="0"/>
            </a:br>
            <a:r>
              <a:rPr lang="en-IN" sz="1500" dirty="0" err="1"/>
              <a:t>Farmers</a:t>
            </a:r>
            <a:r>
              <a:rPr lang="en-IN" sz="1500" dirty="0"/>
              <a:t> can use the insights to understand which seasons, crops, irrigation methods, and resource-use patterns are associated with better yield, profitability, and water efficiency.</a:t>
            </a:r>
          </a:p>
          <a:p>
            <a:r>
              <a:rPr lang="en-IN" sz="1500" b="1" dirty="0"/>
              <a:t>Agricultural Planners and Consultants</a:t>
            </a:r>
            <a:br>
              <a:rPr lang="en-IN" sz="1500" dirty="0"/>
            </a:br>
            <a:r>
              <a:rPr lang="en-IN" sz="1500" dirty="0"/>
              <a:t>They can use the analysis to support seasonal crop planning, resource allocation, and identification of conditions that may affect agricultural performance.</a:t>
            </a:r>
          </a:p>
          <a:p>
            <a:r>
              <a:rPr lang="en-IN" sz="1500" b="1" dirty="0"/>
              <a:t>Government and Agricultural Departments</a:t>
            </a:r>
            <a:br>
              <a:rPr lang="en-IN" sz="1500" dirty="0"/>
            </a:br>
            <a:r>
              <a:rPr lang="en-IN" sz="1500" dirty="0"/>
              <a:t>The findings can support evidence-based agricultural planning, especially for understanding seasonal variations, resource usage, and agricultural risks.</a:t>
            </a:r>
          </a:p>
          <a:p>
            <a:r>
              <a:rPr lang="en-IN" sz="1500" b="1" dirty="0"/>
              <a:t>Agricultural Researchers and Students</a:t>
            </a:r>
            <a:br>
              <a:rPr lang="en-IN" sz="1500" dirty="0"/>
            </a:br>
            <a:r>
              <a:rPr lang="en-IN" sz="1500" dirty="0"/>
              <a:t>Researchers and students can use the project as an analytical reference for studying relationships between environmental conditions, farming practices, crop productivity, and economic outcomes.</a:t>
            </a:r>
          </a:p>
          <a:p>
            <a:r>
              <a:rPr lang="en-IN" sz="1500" b="1" dirty="0"/>
              <a:t>Data Analysts and Agricultural Organizations</a:t>
            </a:r>
            <a:br>
              <a:rPr lang="en-IN" sz="1500" dirty="0"/>
            </a:br>
            <a:r>
              <a:rPr lang="en-IN" sz="1500" dirty="0"/>
              <a:t>They can use the </a:t>
            </a:r>
            <a:r>
              <a:rPr lang="en-IN" sz="1500" dirty="0" err="1"/>
              <a:t>analyzed</a:t>
            </a:r>
            <a:r>
              <a:rPr lang="en-IN" sz="1500" dirty="0"/>
              <a:t> data and visualizations to identify trends, compare seasons, and support data-driven decision-making.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46244" y="1432560"/>
            <a:ext cx="7972075" cy="5243448"/>
          </a:xfrm>
        </p:spPr>
        <p:txBody>
          <a:bodyPr/>
          <a:lstStyle/>
          <a:p>
            <a:pPr lvl="1">
              <a:lnSpc>
                <a:spcPct val="100000"/>
              </a:lnSpc>
            </a:pPr>
            <a:r>
              <a:rPr lang="en-IN" dirty="0"/>
              <a:t>Python</a:t>
            </a:r>
          </a:p>
          <a:p>
            <a:pPr lvl="1">
              <a:lnSpc>
                <a:spcPct val="100000"/>
              </a:lnSpc>
            </a:pPr>
            <a:r>
              <a:rPr lang="en-IN" dirty="0"/>
              <a:t>Pandas</a:t>
            </a:r>
          </a:p>
          <a:p>
            <a:pPr lvl="1">
              <a:lnSpc>
                <a:spcPct val="100000"/>
              </a:lnSpc>
            </a:pPr>
            <a:r>
              <a:rPr lang="en-IN" dirty="0"/>
              <a:t>NumPy</a:t>
            </a:r>
          </a:p>
          <a:p>
            <a:pPr lvl="1">
              <a:lnSpc>
                <a:spcPct val="100000"/>
              </a:lnSpc>
            </a:pPr>
            <a:r>
              <a:rPr lang="en-IN" dirty="0"/>
              <a:t>Matplotlib</a:t>
            </a:r>
          </a:p>
          <a:p>
            <a:pPr lvl="1">
              <a:lnSpc>
                <a:spcPct val="100000"/>
              </a:lnSpc>
            </a:pPr>
            <a:r>
              <a:rPr lang="en-IN"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FAAA3A-F0A8-2B62-2987-11EB6E675475}"/>
              </a:ext>
            </a:extLst>
          </p:cNvPr>
          <p:cNvPicPr>
            <a:picLocks noChangeAspect="1"/>
          </p:cNvPicPr>
          <p:nvPr/>
        </p:nvPicPr>
        <p:blipFill>
          <a:blip r:embed="rId3"/>
          <a:stretch>
            <a:fillRect/>
          </a:stretch>
        </p:blipFill>
        <p:spPr>
          <a:xfrm>
            <a:off x="0" y="1675817"/>
            <a:ext cx="6705600" cy="4476750"/>
          </a:xfrm>
          <a:prstGeom prst="rect">
            <a:avLst/>
          </a:prstGeom>
        </p:spPr>
      </p:pic>
      <p:sp>
        <p:nvSpPr>
          <p:cNvPr id="6" name="TextBox 5">
            <a:extLst>
              <a:ext uri="{FF2B5EF4-FFF2-40B4-BE49-F238E27FC236}">
                <a16:creationId xmlns:a16="http://schemas.microsoft.com/office/drawing/2014/main" id="{F16A84CE-1FF6-C335-8801-FD57FF33BCD3}"/>
              </a:ext>
            </a:extLst>
          </p:cNvPr>
          <p:cNvSpPr txBox="1"/>
          <p:nvPr/>
        </p:nvSpPr>
        <p:spPr>
          <a:xfrm>
            <a:off x="6774855" y="2898529"/>
            <a:ext cx="4888410"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a:t>Seasonal Distribution:</a:t>
            </a:r>
          </a:p>
          <a:p>
            <a:r>
              <a:rPr lang="en-IN" dirty="0"/>
              <a:t>The dataset contains three agricultural seasons: </a:t>
            </a:r>
            <a:r>
              <a:rPr lang="en-IN" b="1" dirty="0"/>
              <a:t>Kharif, Rabi, and Zaid</a:t>
            </a:r>
            <a:r>
              <a:rPr lang="en-IN" dirty="0"/>
              <a:t>. The chart shows that Kharif and Rabi have considerably more records than Zaid, giving us a basis for comparing agricultural performance across seasons.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83D2629-6597-E814-E378-97C52CD03A76}"/>
              </a:ext>
            </a:extLst>
          </p:cNvPr>
          <p:cNvPicPr>
            <a:picLocks noChangeAspect="1"/>
          </p:cNvPicPr>
          <p:nvPr/>
        </p:nvPicPr>
        <p:blipFill>
          <a:blip r:embed="rId3"/>
          <a:stretch>
            <a:fillRect/>
          </a:stretch>
        </p:blipFill>
        <p:spPr>
          <a:xfrm>
            <a:off x="431209" y="1275371"/>
            <a:ext cx="6762693" cy="4668229"/>
          </a:xfrm>
          <a:prstGeom prst="rect">
            <a:avLst/>
          </a:prstGeom>
        </p:spPr>
      </p:pic>
      <p:sp>
        <p:nvSpPr>
          <p:cNvPr id="9" name="Text Placeholder 8">
            <a:extLst>
              <a:ext uri="{FF2B5EF4-FFF2-40B4-BE49-F238E27FC236}">
                <a16:creationId xmlns:a16="http://schemas.microsoft.com/office/drawing/2014/main" id="{FB434F0C-10DD-0DC0-6073-00B218BE845A}"/>
              </a:ext>
            </a:extLst>
          </p:cNvPr>
          <p:cNvSpPr>
            <a:spLocks noGrp="1"/>
          </p:cNvSpPr>
          <p:nvPr>
            <p:ph type="body" sz="quarter" idx="12"/>
          </p:nvPr>
        </p:nvSpPr>
        <p:spPr>
          <a:xfrm>
            <a:off x="7403678" y="2419983"/>
            <a:ext cx="4100967" cy="2379003"/>
          </a:xfrm>
        </p:spPr>
        <p:txBody>
          <a:bodyPr>
            <a:normAutofit lnSpcReduction="10000"/>
          </a:bodyPr>
          <a:lstStyle/>
          <a:p>
            <a:r>
              <a:rPr lang="en-IN" sz="1900" b="1" dirty="0"/>
              <a:t>Yield Comparison Across Seasons:</a:t>
            </a:r>
          </a:p>
          <a:p>
            <a:pPr marL="0" indent="0">
              <a:buNone/>
            </a:pPr>
            <a:r>
              <a:rPr lang="en-IN" sz="1800" dirty="0"/>
              <a:t>This box plot compares </a:t>
            </a:r>
            <a:r>
              <a:rPr lang="en-IN" sz="1800" b="1" dirty="0"/>
              <a:t>crop yield in tonnes per hectare</a:t>
            </a:r>
            <a:r>
              <a:rPr lang="en-IN" sz="1800" dirty="0"/>
              <a:t> across the three seasons. It helps identify differences in yield distribution and also highlights unusually high or low yield observations.</a:t>
            </a: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6378937" y="39926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3C7F9C2-82AD-67F8-3559-FC65275B813F}"/>
              </a:ext>
            </a:extLst>
          </p:cNvPr>
          <p:cNvSpPr txBox="1"/>
          <p:nvPr/>
        </p:nvSpPr>
        <p:spPr>
          <a:xfrm>
            <a:off x="9722498" y="2939143"/>
            <a:ext cx="184731" cy="369332"/>
          </a:xfrm>
          <a:prstGeom prst="rect">
            <a:avLst/>
          </a:prstGeom>
          <a:noFill/>
        </p:spPr>
        <p:txBody>
          <a:bodyPr wrap="none" rtlCol="0">
            <a:spAutoFit/>
          </a:bodyPr>
          <a:lstStyle/>
          <a:p>
            <a:endParaRPr lang="en-IN" dirty="0"/>
          </a:p>
        </p:txBody>
      </p:sp>
      <p:pic>
        <p:nvPicPr>
          <p:cNvPr id="6" name="Picture 5">
            <a:extLst>
              <a:ext uri="{FF2B5EF4-FFF2-40B4-BE49-F238E27FC236}">
                <a16:creationId xmlns:a16="http://schemas.microsoft.com/office/drawing/2014/main" id="{52DB38BB-F256-A886-1FEB-B46CF040AD1B}"/>
              </a:ext>
            </a:extLst>
          </p:cNvPr>
          <p:cNvPicPr>
            <a:picLocks noChangeAspect="1"/>
          </p:cNvPicPr>
          <p:nvPr/>
        </p:nvPicPr>
        <p:blipFill>
          <a:blip r:embed="rId3"/>
          <a:stretch>
            <a:fillRect/>
          </a:stretch>
        </p:blipFill>
        <p:spPr>
          <a:xfrm>
            <a:off x="320981" y="1206374"/>
            <a:ext cx="6126471" cy="5458586"/>
          </a:xfrm>
          <a:prstGeom prst="rect">
            <a:avLst/>
          </a:prstGeom>
        </p:spPr>
      </p:pic>
      <p:sp>
        <p:nvSpPr>
          <p:cNvPr id="11" name="Text Placeholder 10">
            <a:extLst>
              <a:ext uri="{FF2B5EF4-FFF2-40B4-BE49-F238E27FC236}">
                <a16:creationId xmlns:a16="http://schemas.microsoft.com/office/drawing/2014/main" id="{CC625BCC-9A79-B1C5-9C6A-ED73603D2B86}"/>
              </a:ext>
            </a:extLst>
          </p:cNvPr>
          <p:cNvSpPr>
            <a:spLocks noGrp="1"/>
          </p:cNvSpPr>
          <p:nvPr>
            <p:ph type="body" sz="quarter" idx="12"/>
          </p:nvPr>
        </p:nvSpPr>
        <p:spPr>
          <a:xfrm>
            <a:off x="7240905" y="1941449"/>
            <a:ext cx="4275138" cy="3560763"/>
          </a:xfrm>
        </p:spPr>
        <p:txBody>
          <a:bodyPr>
            <a:normAutofit/>
          </a:bodyPr>
          <a:lstStyle/>
          <a:p>
            <a:r>
              <a:rPr lang="en-IN" b="1" dirty="0"/>
              <a:t>Correlation Analysis:</a:t>
            </a:r>
          </a:p>
          <a:p>
            <a:pPr marL="0" indent="0">
              <a:buNone/>
            </a:pPr>
            <a:r>
              <a:rPr lang="en-IN" dirty="0"/>
              <a:t>The correlation heatmap examines relationships among important numerical variables such as </a:t>
            </a:r>
            <a:r>
              <a:rPr lang="en-IN" b="1" dirty="0"/>
              <a:t>rainfall, yield, production, revenue, profit, water usage, and water efficiency</a:t>
            </a:r>
            <a:r>
              <a:rPr lang="en-IN" dirty="0"/>
              <a:t>. It helps identify which variables have stronger positive or negative relationships with agricultural performance.</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F142985-71FD-6BA5-F2BE-A34A2663CF53}"/>
              </a:ext>
            </a:extLst>
          </p:cNvPr>
          <p:cNvPicPr>
            <a:picLocks noChangeAspect="1"/>
          </p:cNvPicPr>
          <p:nvPr/>
        </p:nvPicPr>
        <p:blipFill>
          <a:blip r:embed="rId3"/>
          <a:stretch>
            <a:fillRect/>
          </a:stretch>
        </p:blipFill>
        <p:spPr>
          <a:xfrm>
            <a:off x="675957" y="1275371"/>
            <a:ext cx="6872508" cy="4938818"/>
          </a:xfrm>
          <a:prstGeom prst="rect">
            <a:avLst/>
          </a:prstGeom>
        </p:spPr>
      </p:pic>
      <p:sp>
        <p:nvSpPr>
          <p:cNvPr id="11" name="TextBox 10">
            <a:extLst>
              <a:ext uri="{FF2B5EF4-FFF2-40B4-BE49-F238E27FC236}">
                <a16:creationId xmlns:a16="http://schemas.microsoft.com/office/drawing/2014/main" id="{64AED17B-CFC9-55AF-802E-007062F5628F}"/>
              </a:ext>
            </a:extLst>
          </p:cNvPr>
          <p:cNvSpPr txBox="1"/>
          <p:nvPr/>
        </p:nvSpPr>
        <p:spPr>
          <a:xfrm>
            <a:off x="7689255" y="2175119"/>
            <a:ext cx="3778899" cy="3139321"/>
          </a:xfrm>
          <a:prstGeom prst="rect">
            <a:avLst/>
          </a:prstGeom>
          <a:noFill/>
        </p:spPr>
        <p:txBody>
          <a:bodyPr wrap="square" rtlCol="0">
            <a:spAutoFit/>
          </a:bodyPr>
          <a:lstStyle/>
          <a:p>
            <a:pPr marL="285750" indent="-285750">
              <a:buFont typeface="Arial" panose="020B0604020202020204" pitchFamily="34" charset="0"/>
              <a:buChar char="•"/>
            </a:pPr>
            <a:r>
              <a:rPr lang="en-IN" b="1" dirty="0"/>
              <a:t>Environmental Conditions and Yield:</a:t>
            </a:r>
          </a:p>
          <a:p>
            <a:r>
              <a:rPr lang="en-IN" dirty="0"/>
              <a:t>This analysis studies the relationship between </a:t>
            </a:r>
            <a:r>
              <a:rPr lang="en-IN" b="1" dirty="0"/>
              <a:t>rainfall, temperature, farm area, and crop yield</a:t>
            </a:r>
            <a:r>
              <a:rPr lang="en-IN" dirty="0"/>
              <a:t>. The bubble chart helps visualize how yield varies under different rainfall and temperature conditions while also representing farm size.</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AA04F78-F0BC-67C7-1D4C-17133BADB981}"/>
              </a:ext>
            </a:extLst>
          </p:cNvPr>
          <p:cNvPicPr>
            <a:picLocks noChangeAspect="1"/>
          </p:cNvPicPr>
          <p:nvPr/>
        </p:nvPicPr>
        <p:blipFill>
          <a:blip r:embed="rId3"/>
          <a:stretch>
            <a:fillRect/>
          </a:stretch>
        </p:blipFill>
        <p:spPr>
          <a:xfrm>
            <a:off x="683472" y="1258816"/>
            <a:ext cx="6643294" cy="5031263"/>
          </a:xfrm>
          <a:prstGeom prst="rect">
            <a:avLst/>
          </a:prstGeom>
        </p:spPr>
      </p:pic>
      <p:sp>
        <p:nvSpPr>
          <p:cNvPr id="11" name="Text Placeholder 10">
            <a:extLst>
              <a:ext uri="{FF2B5EF4-FFF2-40B4-BE49-F238E27FC236}">
                <a16:creationId xmlns:a16="http://schemas.microsoft.com/office/drawing/2014/main" id="{44F3B773-A966-735B-98BC-5E7C88D11849}"/>
              </a:ext>
            </a:extLst>
          </p:cNvPr>
          <p:cNvSpPr>
            <a:spLocks noGrp="1"/>
          </p:cNvSpPr>
          <p:nvPr>
            <p:ph type="body" sz="quarter" idx="12"/>
          </p:nvPr>
        </p:nvSpPr>
        <p:spPr>
          <a:xfrm>
            <a:off x="7478323" y="2280081"/>
            <a:ext cx="4275138" cy="2534516"/>
          </a:xfrm>
        </p:spPr>
        <p:txBody>
          <a:bodyPr>
            <a:normAutofit lnSpcReduction="10000"/>
          </a:bodyPr>
          <a:lstStyle/>
          <a:p>
            <a:r>
              <a:rPr lang="en-IN" sz="1800" b="1" dirty="0"/>
              <a:t>Seasonal Environmental Comparison:</a:t>
            </a:r>
          </a:p>
          <a:p>
            <a:pPr marL="0" indent="0">
              <a:buNone/>
            </a:pPr>
            <a:r>
              <a:rPr lang="en-IN" sz="1800" dirty="0"/>
              <a:t>The project compares </a:t>
            </a:r>
            <a:r>
              <a:rPr lang="en-IN" sz="1800" b="1" dirty="0"/>
              <a:t>rainfall, temperature, humidity, sunlight, and soil moisture</a:t>
            </a:r>
            <a:r>
              <a:rPr lang="en-IN" sz="1800" dirty="0"/>
              <a:t> across Kharif, Rabi, and Zaid seasons. These comparisons help explain how seasonal environmental conditions differ and how they can influence agricultural outcomes.</a:t>
            </a:r>
          </a:p>
          <a:p>
            <a:endParaRPr lang="en-IN" sz="1800"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9A20986-D133-D13F-A73C-2C3E6CD79BDC}"/>
              </a:ext>
            </a:extLst>
          </p:cNvPr>
          <p:cNvSpPr txBox="1"/>
          <p:nvPr/>
        </p:nvSpPr>
        <p:spPr>
          <a:xfrm>
            <a:off x="675957" y="1397675"/>
            <a:ext cx="8552019" cy="2031325"/>
          </a:xfrm>
          <a:prstGeom prst="rect">
            <a:avLst/>
          </a:prstGeom>
          <a:noFill/>
        </p:spPr>
        <p:txBody>
          <a:bodyPr wrap="square" rtlCol="0">
            <a:spAutoFit/>
          </a:bodyPr>
          <a:lstStyle/>
          <a:p>
            <a:r>
              <a:rPr lang="en-IN" dirty="0"/>
              <a:t>The future scope of our project is to extend the current data analysis into a smart agricultural decision-support system. We can use machine learning to predict crop yield and profit, recommend suitable crops for different seasons, integrate real-time weather data, optimize irrigation and resource usage, and develop an early warning system for disease and pest risks. The project can also be converted into an interactive web or dashboard application for farmers and agricultural departments.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95118"/>
            <a:ext cx="7232875" cy="646331"/>
          </a:xfrm>
          <a:prstGeom prst="rect">
            <a:avLst/>
          </a:prstGeom>
          <a:noFill/>
        </p:spPr>
        <p:txBody>
          <a:bodyPr wrap="square">
            <a:spAutoFit/>
          </a:bodyPr>
          <a:lstStyle/>
          <a:p>
            <a:r>
              <a:rPr lang="en-US" dirty="0"/>
              <a:t>https://github.com/kalyani-sanapathi26/Seasonal-Agriculture-Performance-Analysis.git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22FC484-412F-085A-889D-CE7F7937A68C}"/>
              </a:ext>
            </a:extLst>
          </p:cNvPr>
          <p:cNvPicPr>
            <a:picLocks noChangeAspect="1"/>
          </p:cNvPicPr>
          <p:nvPr/>
        </p:nvPicPr>
        <p:blipFill>
          <a:blip r:embed="rId3"/>
          <a:stretch>
            <a:fillRect/>
          </a:stretch>
        </p:blipFill>
        <p:spPr>
          <a:xfrm>
            <a:off x="725720" y="1423444"/>
            <a:ext cx="9129551" cy="524151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1462</TotalTime>
  <Words>710</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Ganesh Ghani</cp:lastModifiedBy>
  <cp:revision>100</cp:revision>
  <dcterms:created xsi:type="dcterms:W3CDTF">2021-07-11T13:13:15Z</dcterms:created>
  <dcterms:modified xsi:type="dcterms:W3CDTF">2026-09-15T18:08:48Z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